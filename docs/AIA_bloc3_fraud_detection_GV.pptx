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y="5143500" cx="9144000"/>
  <p:notesSz cx="6858000" cy="9144000"/>
  <p:embeddedFontLst>
    <p:embeddedFont>
      <p:font typeface="Roboto"/>
      <p:regular r:id="rId20"/>
      <p:bold r:id="rId21"/>
      <p:italic r:id="rId22"/>
      <p:boldItalic r:id="rId23"/>
    </p:embeddedFont>
    <p:embeddedFont>
      <p:font typeface="Roboto Light"/>
      <p:regular r:id="rId24"/>
      <p:bold r:id="rId25"/>
      <p:italic r:id="rId26"/>
      <p:boldItalic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227">
          <p15:clr>
            <a:srgbClr val="747775"/>
          </p15:clr>
        </p15:guide>
        <p15:guide id="2" pos="5556">
          <p15:clr>
            <a:srgbClr val="747775"/>
          </p15:clr>
        </p15:guide>
        <p15:guide id="3" orient="horz" pos="3005">
          <p15:clr>
            <a:srgbClr val="747775"/>
          </p15:clr>
        </p15:guide>
        <p15:guide id="4" orient="horz" pos="45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13ECEEF-8CDF-4DC7-B2DE-5FE67ECA9D0A}">
  <a:tblStyle styleId="{B13ECEEF-8CDF-4DC7-B2DE-5FE67ECA9D0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27"/>
        <p:guide pos="5556"/>
        <p:guide pos="3005" orient="horz"/>
        <p:guide pos="454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Roboto-regular.fntdata"/><Relationship Id="rId22" Type="http://schemas.openxmlformats.org/officeDocument/2006/relationships/font" Target="fonts/Roboto-italic.fntdata"/><Relationship Id="rId21" Type="http://schemas.openxmlformats.org/officeDocument/2006/relationships/font" Target="fonts/Roboto-bold.fntdata"/><Relationship Id="rId24" Type="http://schemas.openxmlformats.org/officeDocument/2006/relationships/font" Target="fonts/RobotoLight-regular.fntdata"/><Relationship Id="rId23" Type="http://schemas.openxmlformats.org/officeDocument/2006/relationships/font" Target="fonts/Roboto-bold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RobotoLight-italic.fntdata"/><Relationship Id="rId25" Type="http://schemas.openxmlformats.org/officeDocument/2006/relationships/font" Target="fonts/RobotoLight-bold.fntdata"/><Relationship Id="rId27" Type="http://schemas.openxmlformats.org/officeDocument/2006/relationships/font" Target="fonts/RobotoLight-boldItalic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ebf453f15a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ebf453f15a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ee0dac29e3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ee0dac29e3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ee0dac29e3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ee0dac29e3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f0fa6fd511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3f0fa6fd511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>
                <a:solidFill>
                  <a:schemeClr val="dk1"/>
                </a:solidFill>
              </a:rPr>
              <a:t>pourquoi PR-AUC ?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fr">
                <a:solidFill>
                  <a:schemeClr val="dk1"/>
                </a:solidFill>
              </a:rPr>
              <a:t>La fraude est une classe très minoritaire (quelques % du dataset)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fr">
                <a:solidFill>
                  <a:schemeClr val="dk1"/>
                </a:solidFill>
              </a:rPr>
              <a:t>dans ce contexte, l'accuracy ( (TP+TN)/Total et le ROC-AUC (courbe recall=TP/(TP+FN) vs taux de faux positifs FP/(TN+FN) ) sont trompeurs, car ils sont dominés par les vrais négatifs (TN), très nombreux qui dilue le reste.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fr">
                <a:solidFill>
                  <a:schemeClr val="dk1"/>
                </a:solidFill>
              </a:rPr>
              <a:t>On le voit sur nos résultats : XGBoost a un ROC-AUC=0.997 quasi-parfait mais précision=TP/(TP+FP)=0.25 seulement au seuil par défaut — 3/4 alertes sont de fausses alertes (FP).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fr">
                <a:solidFill>
                  <a:schemeClr val="dk1"/>
                </a:solidFill>
              </a:rPr>
              <a:t>Le PR-AUC (aire sous la courbe precision-recall) se concentre uniquement sur la classe positive (la fraude) et résume la performance du modèle sur tous les seuils de décision possibles, pas un seul. 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fr">
                <a:solidFill>
                  <a:schemeClr val="dk1"/>
                </a:solidFill>
              </a:rPr>
              <a:t>essentiel ici car F1/precision/recall dépendent fortement du seuil choisi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fr">
                <a:solidFill>
                  <a:schemeClr val="dk1"/>
                </a:solidFill>
              </a:rPr>
              <a:t>le tableau le montre bien : XGBoost et LightGBM ont un PR-AUC proche (0.84 vs 0.86), mais des F1 très différents (0.40 vs 0.77) au même seuil de 0.5, simplement parce que leurs courbes precision-recall ont des formes différentes.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chemeClr val="dk1"/>
                </a:solidFill>
              </a:rPr>
              <a:t>En résumé : PR-AUC sert à comparer et sélectionner les modèles (indépendant du seuil, focalisé sur la classe rare) ; F1/precision/recall serviront ensuite à choisir le seuil opérationnel une fois le modèle retenu, selon le compromis souhaité entre fausses alertes et fraudes manquées.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f0fa6fd511_0_9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f0fa6fd511_0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>
                <a:solidFill>
                  <a:schemeClr val="dk1"/>
                </a:solidFill>
              </a:rPr>
              <a:t>pourquoi PR-AUC ?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fr">
                <a:solidFill>
                  <a:schemeClr val="dk1"/>
                </a:solidFill>
              </a:rPr>
              <a:t>La fraude est une classe très minoritaire (quelques % du dataset)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fr">
                <a:solidFill>
                  <a:schemeClr val="dk1"/>
                </a:solidFill>
              </a:rPr>
              <a:t>dans ce contexte, l'accuracy ( (TP+TN)/Total et le ROC-AUC (courbe recall=TP/(TP+FN) vs taux de faux positifs FP/(TN+FN) ) sont trompeurs, car ils sont dominés par les vrais négatifs (TN), très nombreux qui dilue le reste.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fr">
                <a:solidFill>
                  <a:schemeClr val="dk1"/>
                </a:solidFill>
              </a:rPr>
              <a:t>On le voit sur nos résultats : XGBoost a un ROC-AUC=0.997 quasi-parfait mais précision=TP/(TP+FP)=0.25 seulement au seuil par défaut — 3/4 alertes sont de fausses alertes (FP).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fr">
                <a:solidFill>
                  <a:schemeClr val="dk1"/>
                </a:solidFill>
              </a:rPr>
              <a:t>Le PR-AUC (aire sous la courbe precision-recall) se concentre uniquement sur la classe positive (la fraude) et résume la performance du modèle sur tous les seuils de décision possibles, pas un seul. 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fr">
                <a:solidFill>
                  <a:schemeClr val="dk1"/>
                </a:solidFill>
              </a:rPr>
              <a:t>essentiel ici car F1/precision/recall dépendent fortement du seuil choisi</a:t>
            </a: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fr">
                <a:solidFill>
                  <a:schemeClr val="dk1"/>
                </a:solidFill>
              </a:rPr>
              <a:t>le tableau le montre bien : XGBoost et LightGBM ont un PR-AUC proche (0.84 vs 0.86), mais des F1 très différents (0.40 vs 0.77) au même seuil de 0.5, simplement parce que leurs courbes precision-recall ont des formes différentes.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>
                <a:solidFill>
                  <a:schemeClr val="dk1"/>
                </a:solidFill>
              </a:rPr>
              <a:t>En résumé : PR-AUC sert à comparer et sélectionner les modèles (indépendant du seuil, focalisé sur la classe rare) ; F1/precision/recall serviront ensuite à choisir le seuil opérationnel une fois le modèle retenu, selon le compromis souhaité entre fausses alertes et fraudes manquées.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f0fa6fd511_0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f0fa6fd511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f0fa6fd511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3f0fa6fd511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1er DAG ETL et Fraud detection: exécuté toutes les minutes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fr"/>
              <a:t>extraction de la transaction à partir de l’API JEDHA qui simule l’arrivée de trx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fr"/>
              <a:t>sauvegarde sur S3 par répertoire date (pour création datalake, mécanisme de reprise etc.) + sauvegarde en bdd posgresql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fr"/>
              <a:t>puis détection de la fraude par notre API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fr"/>
              <a:t>si le score &gt; seuil fixé on envoie un email sinon rien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fr"/>
              <a:t>le bonus ici c’est d’utiliser la trx qui vient d’arriver comme base pour générer un nouvelle trx fictive assez proche et l’ajouter au dataset : cela permet de simuler un dataset glissant et de provoquer un réentrainement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chemeClr val="dk1"/>
                </a:solidFill>
              </a:rPr>
              <a:t>2e</a:t>
            </a:r>
            <a:r>
              <a:rPr lang="fr">
                <a:solidFill>
                  <a:schemeClr val="dk1"/>
                </a:solidFill>
              </a:rPr>
              <a:t> DAG Train model : déclenché 1x/jour ou selon un taux de modification du dataset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fr">
                <a:solidFill>
                  <a:schemeClr val="dk1"/>
                </a:solidFill>
              </a:rPr>
              <a:t>à l’initialisation s’il n’y a aucun dataset dans le répertoire de travail work/ on y copie le dataset original et on poursuit sur la préparation du dataset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fr">
                <a:solidFill>
                  <a:schemeClr val="dk1"/>
                </a:solidFill>
              </a:rPr>
              <a:t>s’il y a un dataset mais qu’il n’a pas évolué par rapport au dataset original, le DAG s'arrête là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fr">
                <a:solidFill>
                  <a:schemeClr val="dk1"/>
                </a:solidFill>
              </a:rPr>
              <a:t>si le dataset a évolué par rapport au dataset original (par exemple au delà d’un certain seuil) alors on poursuit sur la préparation du dataset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fr">
                <a:solidFill>
                  <a:schemeClr val="dk1"/>
                </a:solidFill>
              </a:rPr>
              <a:t>après une préparation de dataset réussie, on passe à l’entrainement des modèles qui sont ensuite poussés vers MLFlow et taggés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chemeClr val="dk1"/>
                </a:solidFill>
              </a:rPr>
              <a:t>3e DAG report : exécuté 1x/j et n’est pas représenté ici car juste une seule tache qui envoie un rapport de toutes les fraudes de la veille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f0fa6fd511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3f0fa6fd511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architecture de test : mis à part la gateway SMTP et l’API JEDHA, tout le reste a été mis dans une stack Docker</a:t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f0fa6fd511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3f0fa6fd511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f0fa6fd511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f0fa6fd511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f0fa6fd511_0_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f0fa6fd511_0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f0fa6fd511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f0fa6fd511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hyperlink" Target="https://github.com/gviel/jedha-aia-03-frauddetection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jedha-aia-03-frauddetection-vs7adfbiy54amcv5jqy3gc.streamlit.app/" TargetMode="External"/><Relationship Id="rId4" Type="http://schemas.openxmlformats.org/officeDocument/2006/relationships/hyperlink" Target="https://jedha-aia-03-frauddetection.onrender.com/docs" TargetMode="External"/><Relationship Id="rId9" Type="http://schemas.openxmlformats.org/officeDocument/2006/relationships/hyperlink" Target="https://s3.console.aws.amazon.com/s3/buckets/bucket-fraud-detection-gviel?region=eu-west-3&amp;tab=objects" TargetMode="External"/><Relationship Id="rId5" Type="http://schemas.openxmlformats.org/officeDocument/2006/relationships/hyperlink" Target="http://localhost:8080/dags" TargetMode="External"/><Relationship Id="rId6" Type="http://schemas.openxmlformats.org/officeDocument/2006/relationships/hyperlink" Target="https://gviel-mlflow37.hf.space/" TargetMode="External"/><Relationship Id="rId7" Type="http://schemas.openxmlformats.org/officeDocument/2006/relationships/hyperlink" Target="https://console.neon.tech/app/projects/icy-mouse-37340309/branches/br-cool-thunder-a6dhtxi9/tables" TargetMode="External"/><Relationship Id="rId8" Type="http://schemas.openxmlformats.org/officeDocument/2006/relationships/hyperlink" Target="https://s3.console.aws.amazon.com/s3/buckets/bucket-fraud-detection-gviel?region=eu-west-3&amp;tab=objects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741B47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360000" y="1372003"/>
            <a:ext cx="84600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30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Bloc 3 : Concevoir et mettre en oeuvre des pipelines de données (pour l'IA)</a:t>
            </a:r>
            <a:endParaRPr sz="30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360000" y="193102"/>
            <a:ext cx="5591100" cy="100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30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Jedha - Data Science Lead</a:t>
            </a:r>
            <a:endParaRPr sz="30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300">
              <a:solidFill>
                <a:schemeClr val="lt1"/>
              </a:solidFill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360000" y="691740"/>
            <a:ext cx="8460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 Certification AIA (Architecte IA</a:t>
            </a:r>
            <a:r>
              <a:rPr lang="fr" sz="16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)</a:t>
            </a:r>
            <a:endParaRPr sz="16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pic>
        <p:nvPicPr>
          <p:cNvPr id="57" name="Google Shape;57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43100" y="360000"/>
            <a:ext cx="576900" cy="39278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8" name="Google Shape;58;p13"/>
          <p:cNvCxnSpPr/>
          <p:nvPr/>
        </p:nvCxnSpPr>
        <p:spPr>
          <a:xfrm>
            <a:off x="365400" y="1125299"/>
            <a:ext cx="8458800" cy="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9" name="Google Shape;59;p13"/>
          <p:cNvSpPr txBox="1"/>
          <p:nvPr/>
        </p:nvSpPr>
        <p:spPr>
          <a:xfrm>
            <a:off x="291625" y="3105240"/>
            <a:ext cx="8528400" cy="573000"/>
          </a:xfrm>
          <a:prstGeom prst="rect">
            <a:avLst/>
          </a:prstGeom>
          <a:solidFill>
            <a:srgbClr val="FFFFFF">
              <a:alpha val="20360"/>
            </a:srgbClr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2400">
                <a:solidFill>
                  <a:schemeClr val="lt1"/>
                </a:solidFill>
              </a:rPr>
              <a:t>Fraud detection</a:t>
            </a:r>
            <a:endParaRPr sz="24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lt1"/>
              </a:solidFill>
            </a:endParaRPr>
          </a:p>
        </p:txBody>
      </p:sp>
      <p:sp>
        <p:nvSpPr>
          <p:cNvPr id="60" name="Google Shape;60;p13"/>
          <p:cNvSpPr txBox="1"/>
          <p:nvPr/>
        </p:nvSpPr>
        <p:spPr>
          <a:xfrm>
            <a:off x="291625" y="4743950"/>
            <a:ext cx="8528400" cy="2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Guillaume VIEL - 16 juillet 2026</a:t>
            </a:r>
            <a:endParaRPr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13"/>
          <p:cNvSpPr txBox="1"/>
          <p:nvPr/>
        </p:nvSpPr>
        <p:spPr>
          <a:xfrm>
            <a:off x="6487275" y="4019875"/>
            <a:ext cx="15477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 u="sng">
                <a:solidFill>
                  <a:schemeClr val="hlink"/>
                </a:solidFill>
                <a:hlinkClick r:id="rId4"/>
              </a:rPr>
              <a:t>Dépôt Github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/>
          <p:nvPr/>
        </p:nvSpPr>
        <p:spPr>
          <a:xfrm>
            <a:off x="0" y="0"/>
            <a:ext cx="9145200" cy="72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14"/>
          <p:cNvSpPr txBox="1"/>
          <p:nvPr/>
        </p:nvSpPr>
        <p:spPr>
          <a:xfrm>
            <a:off x="365400" y="2525"/>
            <a:ext cx="8454600" cy="720000"/>
          </a:xfrm>
          <a:prstGeom prst="rect">
            <a:avLst/>
          </a:prstGeom>
          <a:solidFill>
            <a:srgbClr val="A64D79"/>
          </a:solidFill>
          <a:ln>
            <a:noFill/>
          </a:ln>
        </p:spPr>
        <p:txBody>
          <a:bodyPr anchorCtr="0" anchor="t" bIns="91425" lIns="91425" spcFirstLastPara="1" rIns="91425" wrap="square" tIns="1620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4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Contexte et problématique</a:t>
            </a:r>
            <a:endParaRPr sz="24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68" name="Google Shape;68;p14"/>
          <p:cNvSpPr txBox="1"/>
          <p:nvPr/>
        </p:nvSpPr>
        <p:spPr>
          <a:xfrm>
            <a:off x="365400" y="754908"/>
            <a:ext cx="8454600" cy="5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134F5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14"/>
          <p:cNvSpPr txBox="1"/>
          <p:nvPr/>
        </p:nvSpPr>
        <p:spPr>
          <a:xfrm>
            <a:off x="357825" y="757626"/>
            <a:ext cx="8580000" cy="397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Contexte</a:t>
            </a:r>
            <a:endParaRPr b="1"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○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La fraude : enjeu majeur pour les institutions financières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○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En 2019, la BCE estimait les transactions frauduleuses par carte en UE à plus d’1 milliard d’euros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○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L’IA permet une détection précise des fraudes → cas d’usage phare en Data Science</a:t>
            </a:r>
            <a:b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1"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Problème</a:t>
            </a:r>
            <a:endParaRPr b="1"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○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Les algorithmes de détection sont performants, mais leur déploiement en production reste complexe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○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Défi clé : Détecter les fraudes en temps réel et réagir instantanément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14"/>
          <p:cNvSpPr/>
          <p:nvPr/>
        </p:nvSpPr>
        <p:spPr>
          <a:xfrm>
            <a:off x="-600" y="4774300"/>
            <a:ext cx="9145200" cy="36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4"/>
          <p:cNvSpPr txBox="1"/>
          <p:nvPr/>
        </p:nvSpPr>
        <p:spPr>
          <a:xfrm>
            <a:off x="365400" y="4774300"/>
            <a:ext cx="8454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Jedha - Certification AIA - Bloc 3 - Guillaume VIEL - 16 juillet 2026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/>
          <p:cNvSpPr/>
          <p:nvPr/>
        </p:nvSpPr>
        <p:spPr>
          <a:xfrm>
            <a:off x="0" y="0"/>
            <a:ext cx="9145200" cy="72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" name="Google Shape;77;p15"/>
          <p:cNvSpPr txBox="1"/>
          <p:nvPr/>
        </p:nvSpPr>
        <p:spPr>
          <a:xfrm>
            <a:off x="365400" y="2525"/>
            <a:ext cx="8454600" cy="720000"/>
          </a:xfrm>
          <a:prstGeom prst="rect">
            <a:avLst/>
          </a:prstGeom>
          <a:solidFill>
            <a:srgbClr val="A64D79"/>
          </a:solidFill>
          <a:ln>
            <a:noFill/>
          </a:ln>
        </p:spPr>
        <p:txBody>
          <a:bodyPr anchorCtr="0" anchor="t" bIns="91425" lIns="91425" spcFirstLastPara="1" rIns="91425" wrap="square" tIns="1620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4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Objectifs et périmètre du projet</a:t>
            </a:r>
            <a:endParaRPr sz="24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78" name="Google Shape;78;p15"/>
          <p:cNvSpPr txBox="1"/>
          <p:nvPr/>
        </p:nvSpPr>
        <p:spPr>
          <a:xfrm>
            <a:off x="337050" y="1006250"/>
            <a:ext cx="8511300" cy="348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Objectif principal</a:t>
            </a:r>
            <a:endParaRPr b="1"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○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Notification immédiate à chaque détection de fraude : alerte simple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○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Rapport quotidien : Vérifier tous les paiements et fraudes de la veille chaque matin</a:t>
            </a:r>
            <a:b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●"/>
            </a:pPr>
            <a: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Périmètre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○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Cible : Transactions par carte (focus fraude)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○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Fonctionnalités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2" marL="13716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■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Détection en temps réel + système d’alerte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2" marL="13716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■"/>
            </a:pPr>
            <a:r>
              <a:rPr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Automatisation d’un rapport journalier (paiements + fraudes)</a:t>
            </a:r>
            <a:endParaRPr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15"/>
          <p:cNvSpPr/>
          <p:nvPr/>
        </p:nvSpPr>
        <p:spPr>
          <a:xfrm>
            <a:off x="-600" y="4774300"/>
            <a:ext cx="9145200" cy="36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15"/>
          <p:cNvSpPr txBox="1"/>
          <p:nvPr/>
        </p:nvSpPr>
        <p:spPr>
          <a:xfrm>
            <a:off x="365400" y="4774300"/>
            <a:ext cx="8454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Jedha - Certification AIA - </a:t>
            </a: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Bloc 3</a:t>
            </a: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- Guillaume VIEL - 16 juillet 2026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741B47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/>
          <p:nvPr/>
        </p:nvSpPr>
        <p:spPr>
          <a:xfrm>
            <a:off x="0" y="0"/>
            <a:ext cx="9145200" cy="720000"/>
          </a:xfrm>
          <a:prstGeom prst="rect">
            <a:avLst/>
          </a:prstGeom>
          <a:solidFill>
            <a:srgbClr val="741B47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6"/>
          <p:cNvSpPr txBox="1"/>
          <p:nvPr/>
        </p:nvSpPr>
        <p:spPr>
          <a:xfrm>
            <a:off x="302850" y="2035551"/>
            <a:ext cx="8454600" cy="10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1620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2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Phase 1 : </a:t>
            </a:r>
            <a:r>
              <a:rPr b="1" lang="fr" sz="2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Entraînement</a:t>
            </a:r>
            <a:r>
              <a:rPr b="1" lang="fr" sz="2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 des modèles</a:t>
            </a:r>
            <a:endParaRPr b="1" sz="24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" name="Google Shape;87;p16"/>
          <p:cNvSpPr/>
          <p:nvPr/>
        </p:nvSpPr>
        <p:spPr>
          <a:xfrm>
            <a:off x="-600" y="4774300"/>
            <a:ext cx="9145200" cy="360000"/>
          </a:xfrm>
          <a:prstGeom prst="rect">
            <a:avLst/>
          </a:prstGeom>
          <a:solidFill>
            <a:srgbClr val="741B47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6"/>
          <p:cNvSpPr txBox="1"/>
          <p:nvPr/>
        </p:nvSpPr>
        <p:spPr>
          <a:xfrm>
            <a:off x="365400" y="4774300"/>
            <a:ext cx="8454600" cy="360000"/>
          </a:xfrm>
          <a:prstGeom prst="rect">
            <a:avLst/>
          </a:prstGeom>
          <a:solidFill>
            <a:srgbClr val="741B47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Jedha - Certification AIA - </a:t>
            </a: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Bloc 3</a:t>
            </a: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- Guillaume VIEL - 16 juillet 2026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7"/>
          <p:cNvSpPr/>
          <p:nvPr/>
        </p:nvSpPr>
        <p:spPr>
          <a:xfrm>
            <a:off x="0" y="0"/>
            <a:ext cx="9145200" cy="72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7"/>
          <p:cNvSpPr txBox="1"/>
          <p:nvPr/>
        </p:nvSpPr>
        <p:spPr>
          <a:xfrm>
            <a:off x="365400" y="2525"/>
            <a:ext cx="8454600" cy="720000"/>
          </a:xfrm>
          <a:prstGeom prst="rect">
            <a:avLst/>
          </a:prstGeom>
          <a:solidFill>
            <a:srgbClr val="A64D79"/>
          </a:solidFill>
          <a:ln>
            <a:noFill/>
          </a:ln>
        </p:spPr>
        <p:txBody>
          <a:bodyPr anchorCtr="0" anchor="t" bIns="91425" lIns="91425" spcFirstLastPara="1" rIns="91425" wrap="square" tIns="1620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4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Entraînement</a:t>
            </a:r>
            <a:r>
              <a:rPr lang="fr" sz="24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 des modèles - détection de fraude (1)</a:t>
            </a:r>
            <a:endParaRPr sz="24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5" name="Google Shape;95;p17"/>
          <p:cNvSpPr txBox="1"/>
          <p:nvPr/>
        </p:nvSpPr>
        <p:spPr>
          <a:xfrm>
            <a:off x="215950" y="871788"/>
            <a:ext cx="8755800" cy="375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●"/>
            </a:pPr>
            <a:r>
              <a:rPr b="1"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2145 fraudes / ~555k  transactions → 0.386%</a:t>
            </a:r>
            <a:endParaRPr b="1"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●"/>
            </a:pPr>
            <a:r>
              <a:rPr b="1"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Fraude : classe ultra-minoritaire → dataset très déséquilibré</a:t>
            </a:r>
            <a:endParaRPr b="1"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●"/>
            </a:pPr>
            <a:r>
              <a:rPr b="1"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Accuracy et ROC-AUC sont trompeurs</a:t>
            </a:r>
            <a:endParaRPr b="1"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○"/>
            </a:pPr>
            <a:r>
              <a:rPr b="1"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même si leurs valeurs peuvent être bonnes, les nombreux vrais négatifs dilue le reste</a:t>
            </a:r>
            <a:br>
              <a:rPr b="1"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1"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Donc</a:t>
            </a:r>
            <a:endParaRPr b="1"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●"/>
            </a:pPr>
            <a:r>
              <a:rPr b="1"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Utilisation du PR-AUC pour départager les modèles dans un premier temps (pas de dilution avec les négatifs)</a:t>
            </a:r>
            <a:endParaRPr b="1"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●"/>
            </a:pPr>
            <a:r>
              <a:rPr b="1"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Ensuite arbitrage avec f1-score, precision et recall selon le compromis souhaité entre fausses alertes et fraudes manquées</a:t>
            </a:r>
            <a:endParaRPr b="1"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Calibri"/>
              <a:buChar char="●"/>
            </a:pPr>
            <a:r>
              <a:rPr b="1" lang="fr" sz="1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Utilisation méthodes SMOTE ou under-sampling : peu convaincant</a:t>
            </a:r>
            <a:endParaRPr b="1" sz="19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7"/>
          <p:cNvSpPr/>
          <p:nvPr/>
        </p:nvSpPr>
        <p:spPr>
          <a:xfrm>
            <a:off x="-600" y="4774300"/>
            <a:ext cx="9145200" cy="36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17"/>
          <p:cNvSpPr txBox="1"/>
          <p:nvPr/>
        </p:nvSpPr>
        <p:spPr>
          <a:xfrm>
            <a:off x="365400" y="4774300"/>
            <a:ext cx="8454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Jedha - Certification AIA - Bloc 3 - Guillaume VIEL - 16 juillet 2026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8"/>
          <p:cNvSpPr/>
          <p:nvPr/>
        </p:nvSpPr>
        <p:spPr>
          <a:xfrm>
            <a:off x="0" y="0"/>
            <a:ext cx="9145200" cy="72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8"/>
          <p:cNvSpPr txBox="1"/>
          <p:nvPr/>
        </p:nvSpPr>
        <p:spPr>
          <a:xfrm>
            <a:off x="365400" y="2525"/>
            <a:ext cx="8454600" cy="720000"/>
          </a:xfrm>
          <a:prstGeom prst="rect">
            <a:avLst/>
          </a:prstGeom>
          <a:solidFill>
            <a:srgbClr val="A64D79"/>
          </a:solidFill>
          <a:ln>
            <a:noFill/>
          </a:ln>
        </p:spPr>
        <p:txBody>
          <a:bodyPr anchorCtr="0" anchor="t" bIns="91425" lIns="91425" spcFirstLastPara="1" rIns="91425" wrap="square" tIns="1620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4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Entraînement des modèles - détection de fraude (2)</a:t>
            </a:r>
            <a:endParaRPr sz="24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4" name="Google Shape;104;p18"/>
          <p:cNvSpPr/>
          <p:nvPr/>
        </p:nvSpPr>
        <p:spPr>
          <a:xfrm>
            <a:off x="-600" y="4774300"/>
            <a:ext cx="9145200" cy="36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18"/>
          <p:cNvSpPr txBox="1"/>
          <p:nvPr/>
        </p:nvSpPr>
        <p:spPr>
          <a:xfrm>
            <a:off x="365400" y="4774300"/>
            <a:ext cx="8454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Jedha - Certification AIA - Bloc 3 - Guillaume VIEL - 16 juillet 2026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06" name="Google Shape;106;p18"/>
          <p:cNvGraphicFramePr/>
          <p:nvPr/>
        </p:nvGraphicFramePr>
        <p:xfrm>
          <a:off x="829725" y="13589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{B13ECEEF-8CDF-4DC7-B2DE-5FE67ECA9D0A}</a:tableStyleId>
              </a:tblPr>
              <a:tblGrid>
                <a:gridCol w="2170625"/>
                <a:gridCol w="1267075"/>
                <a:gridCol w="1267075"/>
                <a:gridCol w="1267075"/>
                <a:gridCol w="1267075"/>
              </a:tblGrid>
              <a:tr h="4762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fr"/>
                        <a:t>Modèle</a:t>
                      </a:r>
                      <a:endParaRPr b="1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fr"/>
                        <a:t>PR-AUC</a:t>
                      </a:r>
                      <a:endParaRPr b="1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fr">
                          <a:solidFill>
                            <a:schemeClr val="dk1"/>
                          </a:solidFill>
                        </a:rPr>
                        <a:t>F1-score</a:t>
                      </a:r>
                      <a:endParaRPr b="1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fr"/>
                        <a:t>Précision</a:t>
                      </a:r>
                      <a:endParaRPr b="1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fr"/>
                        <a:t>Recall</a:t>
                      </a:r>
                      <a:endParaRPr b="1"/>
                    </a:p>
                  </a:txBody>
                  <a:tcPr marT="91425" marB="91425" marR="91425" marL="91425"/>
                </a:tc>
              </a:tr>
              <a:tr h="4762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fr"/>
                        <a:t>LightGBM (more trees)</a:t>
                      </a:r>
                      <a:endParaRPr b="1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fr"/>
                        <a:t>0.888</a:t>
                      </a:r>
                      <a:endParaRPr b="1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fr"/>
                        <a:t>0.80</a:t>
                      </a:r>
                      <a:endParaRPr b="1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fr"/>
                        <a:t>0.76</a:t>
                      </a:r>
                      <a:endParaRPr b="1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fr"/>
                        <a:t>0.85</a:t>
                      </a:r>
                      <a:endParaRPr b="1"/>
                    </a:p>
                  </a:txBody>
                  <a:tcPr marT="91425" marB="91425" marR="91425" marL="91425"/>
                </a:tc>
              </a:tr>
              <a:tr h="4762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LightGBM (baseline)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0.864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0.77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0.70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0.85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4762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XGBoost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0.844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0.40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0.25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0.96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4762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RandomForest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0.720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0.38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0.24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0.89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4762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LogisticRegression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0.202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0.08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0.04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/>
                        <a:t>0.81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741B47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9"/>
          <p:cNvSpPr/>
          <p:nvPr/>
        </p:nvSpPr>
        <p:spPr>
          <a:xfrm>
            <a:off x="0" y="0"/>
            <a:ext cx="9145200" cy="720000"/>
          </a:xfrm>
          <a:prstGeom prst="rect">
            <a:avLst/>
          </a:prstGeom>
          <a:solidFill>
            <a:srgbClr val="741B47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19"/>
          <p:cNvSpPr txBox="1"/>
          <p:nvPr/>
        </p:nvSpPr>
        <p:spPr>
          <a:xfrm>
            <a:off x="302850" y="2035551"/>
            <a:ext cx="8454600" cy="10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1620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2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Phase 2 : Mise en place DAGs et Architecture de test</a:t>
            </a:r>
            <a:endParaRPr b="1" sz="24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" name="Google Shape;113;p19"/>
          <p:cNvSpPr/>
          <p:nvPr/>
        </p:nvSpPr>
        <p:spPr>
          <a:xfrm>
            <a:off x="-600" y="4774300"/>
            <a:ext cx="9145200" cy="360000"/>
          </a:xfrm>
          <a:prstGeom prst="rect">
            <a:avLst/>
          </a:prstGeom>
          <a:solidFill>
            <a:srgbClr val="741B47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19"/>
          <p:cNvSpPr txBox="1"/>
          <p:nvPr/>
        </p:nvSpPr>
        <p:spPr>
          <a:xfrm>
            <a:off x="365400" y="4774300"/>
            <a:ext cx="8454600" cy="360000"/>
          </a:xfrm>
          <a:prstGeom prst="rect">
            <a:avLst/>
          </a:prstGeom>
          <a:solidFill>
            <a:srgbClr val="741B47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Jedha - Certification AIA - Bloc 3 - Guillaume VIEL - 16 juillet 2026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0"/>
          <p:cNvSpPr/>
          <p:nvPr/>
        </p:nvSpPr>
        <p:spPr>
          <a:xfrm>
            <a:off x="0" y="0"/>
            <a:ext cx="9091800" cy="5826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20"/>
          <p:cNvSpPr/>
          <p:nvPr/>
        </p:nvSpPr>
        <p:spPr>
          <a:xfrm>
            <a:off x="-600" y="4774300"/>
            <a:ext cx="9145200" cy="36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20"/>
          <p:cNvSpPr txBox="1"/>
          <p:nvPr/>
        </p:nvSpPr>
        <p:spPr>
          <a:xfrm>
            <a:off x="365400" y="4774300"/>
            <a:ext cx="8454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Jedha - Certification AIA - Bloc 3 - Guillaume VIEL - 16 juillet 2026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2" name="Google Shape;122;p20" title="architecture_dags_fraud_detection.drawi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210850"/>
            <a:ext cx="7441299" cy="4686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1"/>
          <p:cNvSpPr/>
          <p:nvPr/>
        </p:nvSpPr>
        <p:spPr>
          <a:xfrm>
            <a:off x="0" y="0"/>
            <a:ext cx="9145200" cy="72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21"/>
          <p:cNvSpPr txBox="1"/>
          <p:nvPr/>
        </p:nvSpPr>
        <p:spPr>
          <a:xfrm>
            <a:off x="365400" y="2525"/>
            <a:ext cx="8454600" cy="720000"/>
          </a:xfrm>
          <a:prstGeom prst="rect">
            <a:avLst/>
          </a:prstGeom>
          <a:solidFill>
            <a:srgbClr val="A64D79"/>
          </a:solidFill>
          <a:ln>
            <a:noFill/>
          </a:ln>
        </p:spPr>
        <p:txBody>
          <a:bodyPr anchorCtr="0" anchor="t" bIns="91425" lIns="91425" spcFirstLastPara="1" rIns="91425" wrap="square" tIns="1620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4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Architecture de test</a:t>
            </a:r>
            <a:endParaRPr sz="24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29" name="Google Shape;129;p21"/>
          <p:cNvSpPr/>
          <p:nvPr/>
        </p:nvSpPr>
        <p:spPr>
          <a:xfrm>
            <a:off x="-600" y="4774300"/>
            <a:ext cx="9145200" cy="36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21"/>
          <p:cNvSpPr txBox="1"/>
          <p:nvPr/>
        </p:nvSpPr>
        <p:spPr>
          <a:xfrm>
            <a:off x="365400" y="4774300"/>
            <a:ext cx="8454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Jedha - Certification AIA - Bloc 3 - Guillaume VIEL - 16 juillet 2026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1" name="Google Shape;131;p21" title="architecture_tests_fraud_detection.drawi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4988" y="453775"/>
            <a:ext cx="7907129" cy="43162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741B47"/>
        </a:solid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2"/>
          <p:cNvSpPr/>
          <p:nvPr/>
        </p:nvSpPr>
        <p:spPr>
          <a:xfrm>
            <a:off x="0" y="0"/>
            <a:ext cx="9145200" cy="720000"/>
          </a:xfrm>
          <a:prstGeom prst="rect">
            <a:avLst/>
          </a:prstGeom>
          <a:solidFill>
            <a:srgbClr val="741B47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22"/>
          <p:cNvSpPr txBox="1"/>
          <p:nvPr/>
        </p:nvSpPr>
        <p:spPr>
          <a:xfrm>
            <a:off x="302850" y="2035551"/>
            <a:ext cx="8454600" cy="10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1620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2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Phase 3 : Mise en Production</a:t>
            </a:r>
            <a:endParaRPr b="1" sz="24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8" name="Google Shape;138;p22"/>
          <p:cNvSpPr/>
          <p:nvPr/>
        </p:nvSpPr>
        <p:spPr>
          <a:xfrm>
            <a:off x="-600" y="4774300"/>
            <a:ext cx="9145200" cy="360000"/>
          </a:xfrm>
          <a:prstGeom prst="rect">
            <a:avLst/>
          </a:prstGeom>
          <a:solidFill>
            <a:srgbClr val="741B47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22"/>
          <p:cNvSpPr txBox="1"/>
          <p:nvPr/>
        </p:nvSpPr>
        <p:spPr>
          <a:xfrm>
            <a:off x="365400" y="4774300"/>
            <a:ext cx="8454600" cy="360000"/>
          </a:xfrm>
          <a:prstGeom prst="rect">
            <a:avLst/>
          </a:prstGeom>
          <a:solidFill>
            <a:srgbClr val="741B47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Jedha - Certification AIA - Bloc 3 - Guillaume VIEL - 16 juillet 2026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3"/>
          <p:cNvSpPr/>
          <p:nvPr/>
        </p:nvSpPr>
        <p:spPr>
          <a:xfrm>
            <a:off x="0" y="0"/>
            <a:ext cx="9145200" cy="72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23"/>
          <p:cNvSpPr txBox="1"/>
          <p:nvPr/>
        </p:nvSpPr>
        <p:spPr>
          <a:xfrm>
            <a:off x="365400" y="2525"/>
            <a:ext cx="8454600" cy="720000"/>
          </a:xfrm>
          <a:prstGeom prst="rect">
            <a:avLst/>
          </a:prstGeom>
          <a:solidFill>
            <a:srgbClr val="A64D79"/>
          </a:solidFill>
          <a:ln>
            <a:noFill/>
          </a:ln>
        </p:spPr>
        <p:txBody>
          <a:bodyPr anchorCtr="0" anchor="t" bIns="91425" lIns="91425" spcFirstLastPara="1" rIns="91425" wrap="square" tIns="1620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4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Architecture pipeline de production</a:t>
            </a:r>
            <a:endParaRPr sz="24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46" name="Google Shape;146;p23"/>
          <p:cNvSpPr/>
          <p:nvPr/>
        </p:nvSpPr>
        <p:spPr>
          <a:xfrm>
            <a:off x="-600" y="4774300"/>
            <a:ext cx="9145200" cy="36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23"/>
          <p:cNvSpPr txBox="1"/>
          <p:nvPr/>
        </p:nvSpPr>
        <p:spPr>
          <a:xfrm>
            <a:off x="365400" y="4774300"/>
            <a:ext cx="8454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Jedha - Certification AIA - Bloc 3 - Guillaume VIEL - 16 juillet 2026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8" name="Google Shape;148;p23" title="architecture_prod_fraud-detection.drawi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575" y="747100"/>
            <a:ext cx="9082701" cy="38925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4"/>
          <p:cNvSpPr/>
          <p:nvPr/>
        </p:nvSpPr>
        <p:spPr>
          <a:xfrm>
            <a:off x="0" y="0"/>
            <a:ext cx="9145200" cy="72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24"/>
          <p:cNvSpPr txBox="1"/>
          <p:nvPr/>
        </p:nvSpPr>
        <p:spPr>
          <a:xfrm>
            <a:off x="365400" y="2525"/>
            <a:ext cx="8454600" cy="720000"/>
          </a:xfrm>
          <a:prstGeom prst="rect">
            <a:avLst/>
          </a:prstGeom>
          <a:solidFill>
            <a:srgbClr val="A64D79"/>
          </a:solidFill>
          <a:ln>
            <a:noFill/>
          </a:ln>
        </p:spPr>
        <p:txBody>
          <a:bodyPr anchorCtr="0" anchor="t" bIns="91425" lIns="91425" spcFirstLastPara="1" rIns="91425" wrap="square" tIns="1620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4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Démonstration</a:t>
            </a:r>
            <a:endParaRPr sz="24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55" name="Google Shape;155;p24"/>
          <p:cNvSpPr txBox="1"/>
          <p:nvPr/>
        </p:nvSpPr>
        <p:spPr>
          <a:xfrm>
            <a:off x="308700" y="976350"/>
            <a:ext cx="8511300" cy="348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b="1" lang="fr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Dashboard (Streamlit)</a:t>
            </a:r>
            <a:b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1"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b="1" lang="fr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API Fraud Detection (Render)</a:t>
            </a:r>
            <a:b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1"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b="1" lang="fr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Airflow (stack locale docker compose)</a:t>
            </a:r>
            <a:b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1"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b="1" lang="fr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MLFlow (Hugging Face)</a:t>
            </a:r>
            <a:b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1"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b="1" lang="fr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PgSQL DB (Neon)</a:t>
            </a:r>
            <a:br>
              <a:rPr b="1" lang="fr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1"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libri"/>
              <a:buChar char="●"/>
            </a:pPr>
            <a:r>
              <a:rPr b="1" lang="fr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Bucket</a:t>
            </a:r>
            <a:r>
              <a:rPr b="1" lang="fr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 S3 (AWS)</a:t>
            </a:r>
            <a:endParaRPr b="1"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24"/>
          <p:cNvSpPr/>
          <p:nvPr/>
        </p:nvSpPr>
        <p:spPr>
          <a:xfrm>
            <a:off x="-600" y="4774300"/>
            <a:ext cx="9145200" cy="360000"/>
          </a:xfrm>
          <a:prstGeom prst="rect">
            <a:avLst/>
          </a:prstGeom>
          <a:solidFill>
            <a:srgbClr val="A64D7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24"/>
          <p:cNvSpPr txBox="1"/>
          <p:nvPr/>
        </p:nvSpPr>
        <p:spPr>
          <a:xfrm>
            <a:off x="365400" y="4774300"/>
            <a:ext cx="84546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Jedha - Certification AIA - Bloc 3 - Guillaume VIEL - 16 juillet 2026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741B47"/>
        </a:solid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5"/>
          <p:cNvSpPr txBox="1"/>
          <p:nvPr/>
        </p:nvSpPr>
        <p:spPr>
          <a:xfrm>
            <a:off x="360000" y="193102"/>
            <a:ext cx="5591100" cy="100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30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Jedha - Data Science Lead</a:t>
            </a:r>
            <a:endParaRPr sz="30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300">
              <a:solidFill>
                <a:schemeClr val="lt1"/>
              </a:solidFill>
            </a:endParaRPr>
          </a:p>
        </p:txBody>
      </p:sp>
      <p:sp>
        <p:nvSpPr>
          <p:cNvPr id="163" name="Google Shape;163;p25"/>
          <p:cNvSpPr txBox="1"/>
          <p:nvPr/>
        </p:nvSpPr>
        <p:spPr>
          <a:xfrm>
            <a:off x="360000" y="691740"/>
            <a:ext cx="8460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 Certification AIA (Architecte IA)</a:t>
            </a:r>
            <a:endParaRPr sz="16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pic>
        <p:nvPicPr>
          <p:cNvPr id="164" name="Google Shape;164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43100" y="360000"/>
            <a:ext cx="576900" cy="39278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5" name="Google Shape;165;p25"/>
          <p:cNvCxnSpPr/>
          <p:nvPr/>
        </p:nvCxnSpPr>
        <p:spPr>
          <a:xfrm>
            <a:off x="365400" y="1125299"/>
            <a:ext cx="8458800" cy="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66" name="Google Shape;166;p25"/>
          <p:cNvSpPr txBox="1"/>
          <p:nvPr/>
        </p:nvSpPr>
        <p:spPr>
          <a:xfrm>
            <a:off x="291625" y="4743950"/>
            <a:ext cx="8528400" cy="25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Guillaume VIEL - 16 juillet 2026</a:t>
            </a:r>
            <a:endParaRPr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25"/>
          <p:cNvSpPr txBox="1"/>
          <p:nvPr/>
        </p:nvSpPr>
        <p:spPr>
          <a:xfrm>
            <a:off x="291625" y="2023850"/>
            <a:ext cx="8460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30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rPr>
              <a:t>Questions ?</a:t>
            </a:r>
            <a:endParaRPr sz="3000">
              <a:solidFill>
                <a:schemeClr val="lt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