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Roboto Light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27">
          <p15:clr>
            <a:srgbClr val="747775"/>
          </p15:clr>
        </p15:guide>
        <p15:guide id="2" pos="5556">
          <p15:clr>
            <a:srgbClr val="747775"/>
          </p15:clr>
        </p15:guide>
        <p15:guide id="3" orient="horz" pos="3005">
          <p15:clr>
            <a:srgbClr val="747775"/>
          </p15:clr>
        </p15:guide>
        <p15:guide id="4" orient="horz" pos="45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94E342-CAAB-478D-BB96-D7EA19FF5541}">
  <a:tblStyle styleId="{AE94E342-CAAB-478D-BB96-D7EA19FF554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27"/>
        <p:guide pos="5556"/>
        <p:guide pos="3005" orient="horz"/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Roboto-bold.fntdata"/><Relationship Id="rId23" Type="http://schemas.openxmlformats.org/officeDocument/2006/relationships/font" Target="fonts/Robo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-boldItalic.fntdata"/><Relationship Id="rId25" Type="http://schemas.openxmlformats.org/officeDocument/2006/relationships/font" Target="fonts/Roboto-italic.fntdata"/><Relationship Id="rId28" Type="http://schemas.openxmlformats.org/officeDocument/2006/relationships/font" Target="fonts/RobotoLight-bold.fntdata"/><Relationship Id="rId27" Type="http://schemas.openxmlformats.org/officeDocument/2006/relationships/font" Target="fonts/RobotoLight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Light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font" Target="fonts/RobotoLight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ebf453f15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ebf453f15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e0dac29e3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e0dac29e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ee0dac29e3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ee0dac29e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0fa6fd511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f0fa6fd511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>
                <a:solidFill>
                  <a:schemeClr val="dk1"/>
                </a:solidFill>
              </a:rPr>
              <a:t>pourquoi PR-AUC ?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La fraude est une classe très minoritaire (quelques % du dataset)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dans ce contexte, l'accuracy ( (TP+TN)/Total et le ROC-AUC (courbe recall=TP/(TP+FN) vs taux de faux positifs FP/(TN+FN) ) sont trompeurs, car ils sont dominés par les vrais négatifs (TN), très nombreux qui dilue le reste.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On le voit sur nos résultats : XGBoost a un ROC-AUC=0.997 quasi-parfait mais précision=TP/(TP+FP)=0.25 seulement au seuil par défaut — 3/4 alertes sont de fausses alertes (FP).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PR-AUC (aire sous la courbe precision-recall) se concentre uniquement sur la classe positive (la fraude) et résume la performance du modèle sur tous les seuils de décision possibles, pas un seul. 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essentiel ici car F1/precision/recall dépendent fortement du seuil choisi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tableau le montre bien : XGBoost et LightGBM ont un PR-AUC proche (0.84 vs 0.86), mais des F1 très différents (0.40 vs 0.77) au même seuil de 0.5, simplement parce que leurs courbes precision-recall ont des formes différentes.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</a:rPr>
              <a:t>En résumé : PR-AUC sert à comparer et sélectionner les modèles (indépendant du seuil, focalisé sur la classe rare) ; F1/precision/recall serviront ensuite à choisir le seuil opérationnel une fois le modèle retenu, selon le compromis souhaité entre fausses alertes et fraudes manquées.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0fa6fd511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f0fa6fd511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>
                <a:solidFill>
                  <a:schemeClr val="dk1"/>
                </a:solidFill>
              </a:rPr>
              <a:t>pourquoi PR-AUC ?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La fraude est une classe très minoritaire (quelques % du dataset)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dans ce contexte, l'accuracy ( (TP+TN)/Total et le ROC-AUC (courbe recall=TP/(TP+FN) vs taux de faux positifs FP/(TN+FN) ) sont trompeurs, car ils sont dominés par les vrais négatifs (TN), très nombreux qui dilue le reste.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On le voit sur nos résultats : XGBoost a un ROC-AUC=0.997 quasi-parfait mais précision=TP/(TP+FP)=0.25 seulement au seuil par défaut — 3/4 alertes sont de fausses alertes (FP).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PR-AUC (aire sous la courbe precision-recall) se concentre uniquement sur la classe positive (la fraude) et résume la performance du modèle sur tous les seuils de décision possibles, pas un seul. 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essentiel ici car F1/precision/recall dépendent fortement du seuil choisi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tableau le montre bien : XGBoost et LightGBM ont un PR-AUC proche (0.84 vs 0.86), mais des F1 très différents (0.40 vs 0.77) au même seuil de 0.5, simplement parce que leurs courbes precision-recall ont des formes différentes.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>
                <a:solidFill>
                  <a:schemeClr val="dk1"/>
                </a:solidFill>
              </a:rPr>
              <a:t>En résumé : PR-AUC sert à comparer et sélectionner les modèles (indépendant du seuil, focalisé sur la classe rare) ; F1/precision/recall serviront ensuite à choisir le seuil opérationnel une fois le modèle retenu, selon le compromis souhaité entre fausses alertes et fraudes manquées.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0fa6fd511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f0fa6fd511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0fa6fd511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f0fa6fd511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1er DAG ETL et Fraud detection: exécuté toutes les minutes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extraction de la transaction à partir de l’API JEDHA qui simule l’arrivée de trx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sauvegarde sur S3 par répertoire date (pour création datalake, mécanisme de reprise etc.) + sauvegarde en bdd posgresql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puis détection de la fraude par notre API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si le score &gt; seuil fixé on envoie un email sinon rien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le bonus ici c’est d’utiliser la trx qui vient d’arriver comme base pour générer un nouvelle trx fictive assez proche et l’ajouter au dataset : cela permet de simuler un dataset glissant et de provoquer un réentrainement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</a:rPr>
              <a:t>2e</a:t>
            </a:r>
            <a:r>
              <a:rPr lang="fr">
                <a:solidFill>
                  <a:schemeClr val="dk1"/>
                </a:solidFill>
              </a:rPr>
              <a:t> DAG Train model : déclenché 1x/jour ou selon un taux de modification du dataset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à l’initialisation s’il n’y a aucun dataset dans le répertoire de travail work/ on y copie le dataset original et on poursuit sur la préparation du dataset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s’il y a un dataset mais qu’il n’a pas évolué par rapport au dataset original, le DAG s'arrête là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si le dataset a évolué par rapport au dataset original (par exemple au delà d’un certain seuil) alors on poursuit sur la préparation du dataset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après une préparation de dataset réussie, on passe à l’entrainement des modèles qui sont ensuite poussés vers MLFlow et taggés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</a:rPr>
              <a:t>3e DAG report : exécuté 1x/j et n’est pas représenté ici car juste une seule tache qui envoie un rapport de toutes les fraudes de la veille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0fa6fd511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f0fa6fd511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architecture de test : mis à part la gateway SMTP et l’API JEDHA, tout le reste a été mis dans une stack Docker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0fa6fd511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f0fa6fd511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0fa6fd511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f0fa6fd511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0fa6fd511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0fa6fd511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0fa6fd511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f0fa6fd511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0fa6fd511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f0fa6fd511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0fa6fd511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f0fa6fd511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</a:rPr>
              <a:t>pourquoi PR-AUC ?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La fraude est une classe très minoritaire (quelques % du dataset)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dans ce contexte, l'accuracy ( (TP+TN)/Total et le ROC-AUC (courbe recall=TP/(TP+FN) vs taux de faux positifs FP/(TN+FN) ) sont trompeurs, car ils sont dominés par les vrais négatifs (TN), très nombreux qui dilue le reste.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On le voit sur nos résultats : XGBoost a un ROC-AUC=0.997 quasi-parfait mais précision=TP/(TP+FP)=0.25 seulement au seuil par défaut — 3/4 alertes sont de fausses alertes (FP).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PR-AUC (aire sous la courbe precision-recall) se concentre uniquement sur la classe positive (la fraude) et résume la performance du modèle sur tous les seuils de décision possibles, pas un seul. 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essentiel ici car F1/precision/recall dépendent fortement du seuil choisi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tableau le montre bien : XGBoost et LightGBM ont un PR-AUC proche (0.84 vs 0.86), mais des F1 très différents (0.40 vs 0.77) au même seuil de 0.5, simplement parce que leurs courbes precision-recall ont des formes différentes.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</a:rPr>
              <a:t>En résumé : PR-AUC sert à comparer et sélectionner les modèles (indépendant du seuil, focalisé sur la classe rare) ; F1/precision/recall serviront ensuite à choisir le seuil opérationnel une fois le modèle retenu, selon le compromis souhaité entre fausses alertes et fraudes manquées.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0fa6fd511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f0fa6fd511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gviel/jedha-aia-03-frauddetection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jedha-aia-03-frauddetection-vs7adfbiy54amcv5jqy3gc.streamlit.app/" TargetMode="External"/><Relationship Id="rId4" Type="http://schemas.openxmlformats.org/officeDocument/2006/relationships/hyperlink" Target="https://jedha-aia-03-frauddetection.onrender.com/docs" TargetMode="External"/><Relationship Id="rId9" Type="http://schemas.openxmlformats.org/officeDocument/2006/relationships/hyperlink" Target="https://s3.console.aws.amazon.com/s3/buckets/bucket-fraud-detection-gviel?region=eu-west-3&amp;tab=objects" TargetMode="External"/><Relationship Id="rId5" Type="http://schemas.openxmlformats.org/officeDocument/2006/relationships/hyperlink" Target="http://localhost:8080/dags" TargetMode="External"/><Relationship Id="rId6" Type="http://schemas.openxmlformats.org/officeDocument/2006/relationships/hyperlink" Target="https://gviel-mlflow37.hf.space/" TargetMode="External"/><Relationship Id="rId7" Type="http://schemas.openxmlformats.org/officeDocument/2006/relationships/hyperlink" Target="https://console.neon.tech/app/projects/icy-mouse-37340309/branches/br-cool-thunder-a6dhtxi9/tables" TargetMode="External"/><Relationship Id="rId8" Type="http://schemas.openxmlformats.org/officeDocument/2006/relationships/hyperlink" Target="https://s3.console.aws.amazon.com/s3/buckets/bucket-fraud-detection-gviel?region=eu-west-3&amp;tab=objects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0000" y="1372003"/>
            <a:ext cx="8460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Bloc 3 : Concevoir et mettre en oeuvre des pipelines de données (pour l'IA)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360000" y="193102"/>
            <a:ext cx="55911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Jedha - Data Science Lead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0000" y="691740"/>
            <a:ext cx="846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Certification AIA (Architecte IA</a:t>
            </a: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)</a:t>
            </a:r>
            <a:endParaRPr sz="16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43100" y="360000"/>
            <a:ext cx="576900" cy="3927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8" name="Google Shape;58;p13"/>
          <p:cNvCxnSpPr/>
          <p:nvPr/>
        </p:nvCxnSpPr>
        <p:spPr>
          <a:xfrm>
            <a:off x="365400" y="1125299"/>
            <a:ext cx="84588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" name="Google Shape;59;p13"/>
          <p:cNvSpPr txBox="1"/>
          <p:nvPr/>
        </p:nvSpPr>
        <p:spPr>
          <a:xfrm>
            <a:off x="291625" y="3105240"/>
            <a:ext cx="8528400" cy="573000"/>
          </a:xfrm>
          <a:prstGeom prst="rect">
            <a:avLst/>
          </a:prstGeom>
          <a:solidFill>
            <a:srgbClr val="FFFFFF">
              <a:alpha val="20360"/>
            </a:srgbClr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</a:rPr>
              <a:t>Fraud detection</a:t>
            </a:r>
            <a:endParaRPr sz="24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291625" y="4743950"/>
            <a:ext cx="85284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Guillaume VIEL - 16 juillet 2026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6487275" y="4019875"/>
            <a:ext cx="1547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u="sng">
                <a:solidFill>
                  <a:schemeClr val="hlink"/>
                </a:solidFill>
                <a:hlinkClick r:id="rId4"/>
              </a:rPr>
              <a:t>Dépôt Github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4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Contexte et problématique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65400" y="7549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357825" y="757626"/>
            <a:ext cx="8580000" cy="39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Contexte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La fraude : enjeu majeur pour les institutions financières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En 2019, la BCE estimait les transactions frauduleuses par carte en UE à plus d’1 milliard d’euros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L’IA permet une détection précise des fraudes → cas d’usage phare en Data Science</a:t>
            </a:r>
            <a:b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Problème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Les algorithmes de détection sont performants, mais leur déploiement en production reste complexe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Défi clé : Détecter les fraudes en temps réel et réagir instantanément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4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4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5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Objectifs et périmètre du projet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337050" y="1006250"/>
            <a:ext cx="8511300" cy="3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Objectif principal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Notification immédiate à chaque détection de fraude : alerte simple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Rapport quotidien : Vérifier tous les paiements et fraudes de la veille chaque matin</a:t>
            </a:r>
            <a:b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Périmètre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Cible : Transactions par carte (focus fraude)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Fonctionnalités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Détection en temps réel + système d’alerte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Automatisation d’un rapport journalier (paiements + fraudes)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5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</a:t>
            </a: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Bloc 3</a:t>
            </a: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 txBox="1"/>
          <p:nvPr/>
        </p:nvSpPr>
        <p:spPr>
          <a:xfrm>
            <a:off x="302850" y="2035551"/>
            <a:ext cx="8454600" cy="10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Phase 1 : </a:t>
            </a: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Entraînement</a:t>
            </a: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des modèles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</a:t>
            </a: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Bloc 3</a:t>
            </a: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7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Entraînement</a:t>
            </a: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des modèles - détection de fraude (1)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215950" y="871788"/>
            <a:ext cx="8755800" cy="37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2145 fraudes / ~555k  transactions → 0.386%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Fraude : classe ultra-minoritaire → dataset très déséquilibré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Accuracy et ROC-AUC sont trompeurs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même si leurs valeurs peuvent être bonnes, les nombreux vrais négatifs dilue le reste</a:t>
            </a:r>
            <a:b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Donc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Utilisation du PR-AUC pour départager les modèles dans un premier temps (pas de dilution avec les négatifs)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Ensuite arbitrage avec f1-score, precision et recall selon le compromis souhaité entre fausses alertes et fraudes manquées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Utilisation méthodes SMOTE ou under-sampling : peu convaincant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7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8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Entraînement des modèles - détection de fraude (2)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8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6" name="Google Shape;106;p18"/>
          <p:cNvGraphicFramePr/>
          <p:nvPr/>
        </p:nvGraphicFramePr>
        <p:xfrm>
          <a:off x="829725" y="1358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{AE94E342-CAAB-478D-BB96-D7EA19FF5541}</a:tableStyleId>
              </a:tblPr>
              <a:tblGrid>
                <a:gridCol w="2170625"/>
                <a:gridCol w="1267075"/>
                <a:gridCol w="1267075"/>
                <a:gridCol w="1267075"/>
                <a:gridCol w="1267075"/>
              </a:tblGrid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Modèle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PR-AUC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>
                          <a:solidFill>
                            <a:schemeClr val="dk1"/>
                          </a:solidFill>
                        </a:rPr>
                        <a:t>F1-score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Précision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Recall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LightGBM (more trees)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0.888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0.80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0.76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0.85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LightGBM (baseline)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0.864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0.77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0.70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0.85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XGBoost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0.844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0.40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0.25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0.96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RandomForest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0.720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0.38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0.24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0.89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LogisticRegression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0.202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0.08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0.04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0.81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9"/>
          <p:cNvSpPr txBox="1"/>
          <p:nvPr/>
        </p:nvSpPr>
        <p:spPr>
          <a:xfrm>
            <a:off x="302850" y="2035551"/>
            <a:ext cx="8454600" cy="10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Phase 2 : Mise en place DAGs et Architecture de test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19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9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/>
          <p:nvPr/>
        </p:nvSpPr>
        <p:spPr>
          <a:xfrm>
            <a:off x="0" y="0"/>
            <a:ext cx="9091800" cy="5826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0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0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" name="Google Shape;122;p20" title="architecture_dags_fraud_detection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10850"/>
            <a:ext cx="7441299" cy="4686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1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Architecture de test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9" name="Google Shape;129;p21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1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21" title="architecture_tests_fraud_detection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4988" y="453775"/>
            <a:ext cx="7907129" cy="4316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2"/>
          <p:cNvSpPr txBox="1"/>
          <p:nvPr/>
        </p:nvSpPr>
        <p:spPr>
          <a:xfrm>
            <a:off x="302850" y="2035551"/>
            <a:ext cx="8454600" cy="10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Phase 3 : Mise en Production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p22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22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3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Architecture pipeline de production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6" name="Google Shape;146;p23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3" title="architecture_prod_fraud-detection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75" y="747100"/>
            <a:ext cx="9082701" cy="3892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4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Démonstration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308700" y="976350"/>
            <a:ext cx="8511300" cy="3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Dashboard (Streamlit)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API Fraud Detection (Render)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Airflow (stack locale docker compose)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MLFlow (Hugging Face)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PgSQL DB (Neon)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Bucket</a:t>
            </a: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 S3 (AWS)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4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4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5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5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Démonstration : Email alerte et rapport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64" name="Google Shape;164;p25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5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25" title="alert_emai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65625"/>
            <a:ext cx="6910150" cy="3384250"/>
          </a:xfrm>
          <a:prstGeom prst="rect">
            <a:avLst/>
          </a:prstGeom>
          <a:noFill/>
          <a:ln>
            <a:noFill/>
          </a:ln>
          <a:effectLst>
            <a:outerShdw blurRad="171450" rotWithShape="0" algn="bl" dir="12420000" dist="95250">
              <a:schemeClr val="dk2">
                <a:alpha val="66000"/>
              </a:schemeClr>
            </a:outerShdw>
          </a:effectLst>
        </p:spPr>
      </p:pic>
      <p:pic>
        <p:nvPicPr>
          <p:cNvPr id="167" name="Google Shape;167;p25" title="fraud_repo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9875" y="1171600"/>
            <a:ext cx="4772250" cy="3813675"/>
          </a:xfrm>
          <a:prstGeom prst="rect">
            <a:avLst/>
          </a:prstGeom>
          <a:noFill/>
          <a:ln>
            <a:noFill/>
          </a:ln>
          <a:effectLst>
            <a:outerShdw blurRad="171450" rotWithShape="0" algn="bl" dir="12420000" dist="95250">
              <a:schemeClr val="dk2">
                <a:alpha val="79000"/>
              </a:scheme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6"/>
          <p:cNvSpPr txBox="1"/>
          <p:nvPr/>
        </p:nvSpPr>
        <p:spPr>
          <a:xfrm>
            <a:off x="302850" y="2035551"/>
            <a:ext cx="8454600" cy="10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Conclusion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6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6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7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Conclusion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82" name="Google Shape;182;p27"/>
          <p:cNvSpPr txBox="1"/>
          <p:nvPr/>
        </p:nvSpPr>
        <p:spPr>
          <a:xfrm>
            <a:off x="194100" y="792662"/>
            <a:ext cx="8755800" cy="39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Difficultés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contraintes des free plan…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déploiement stack Airflow en local (complexe voire impossible sur HF ou Render)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nombreux modules et nombreuses vars de config</a:t>
            </a:r>
            <a:b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Améliorations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déploiement du training sur EC2 ou équivalent (type Openstack)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ou K8s + Ray pour paralléliser les calculs de plusieurs modèles en </a:t>
            </a: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même</a:t>
            </a: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temps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Kafka pour absorber des trx en temps réel (ici démesuré)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rapport en PDF et stockage sur S3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sécurité…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27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8"/>
          <p:cNvSpPr txBox="1"/>
          <p:nvPr/>
        </p:nvSpPr>
        <p:spPr>
          <a:xfrm>
            <a:off x="360000" y="193102"/>
            <a:ext cx="55911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Jedha - Data Science Lead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</a:endParaRPr>
          </a:p>
        </p:txBody>
      </p:sp>
      <p:sp>
        <p:nvSpPr>
          <p:cNvPr id="190" name="Google Shape;190;p28"/>
          <p:cNvSpPr txBox="1"/>
          <p:nvPr/>
        </p:nvSpPr>
        <p:spPr>
          <a:xfrm>
            <a:off x="360000" y="691740"/>
            <a:ext cx="846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Certification AIA (Architecte IA)</a:t>
            </a:r>
            <a:endParaRPr sz="16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191" name="Google Shape;19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43100" y="360000"/>
            <a:ext cx="576900" cy="3927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2" name="Google Shape;192;p28"/>
          <p:cNvCxnSpPr/>
          <p:nvPr/>
        </p:nvCxnSpPr>
        <p:spPr>
          <a:xfrm>
            <a:off x="365400" y="1125299"/>
            <a:ext cx="84588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3" name="Google Shape;193;p28"/>
          <p:cNvSpPr txBox="1"/>
          <p:nvPr/>
        </p:nvSpPr>
        <p:spPr>
          <a:xfrm>
            <a:off x="291625" y="4743950"/>
            <a:ext cx="85284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Guillaume VIEL - 16 juillet 2026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8"/>
          <p:cNvSpPr txBox="1"/>
          <p:nvPr/>
        </p:nvSpPr>
        <p:spPr>
          <a:xfrm>
            <a:off x="291625" y="2023850"/>
            <a:ext cx="846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Questions ?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